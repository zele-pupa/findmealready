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182880"/>
            <a:ext cx="3749040" cy="3291840"/>
          </a:xfrm>
          <a:prstGeom prst="ellipse">
            <a:avLst/>
          </a:prstGeom>
          <a:solidFill>
            <a:srgbClr val="5D52D9">
              <a:alpha val="12000"/>
            </a:srgbClr>
          </a:solidFill>
          <a:ln w="12700">
            <a:solidFill>
              <a:srgbClr val="5D52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840480"/>
            <a:ext cx="3611880" cy="2514600"/>
          </a:xfrm>
          <a:prstGeom prst="ellipse">
            <a:avLst/>
          </a:prstGeom>
          <a:solidFill>
            <a:srgbClr val="5E79F7">
              <a:alpha val="9000"/>
            </a:srgbClr>
          </a:solidFill>
          <a:ln w="12700">
            <a:solidFill>
              <a:srgbClr val="5E79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937760"/>
            <a:ext cx="2834640" cy="1508760"/>
          </a:xfrm>
          <a:prstGeom prst="ellipse">
            <a:avLst/>
          </a:prstGeom>
          <a:solidFill>
            <a:srgbClr val="91C94C">
              <a:alpha val="5000"/>
            </a:srgbClr>
          </a:solidFill>
          <a:ln w="12700">
            <a:solidFill>
              <a:srgbClr val="91C9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77824"/>
            <a:ext cx="11000232" cy="0"/>
          </a:xfrm>
          <a:prstGeom prst="line">
            <a:avLst/>
          </a:prstGeom>
          <a:noFill/>
          <a:ln w="7620">
            <a:solidFill>
              <a:srgbClr val="2B2B36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8890">
            <a:solidFill>
              <a:srgbClr val="373744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21792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ASSISTANT  /  MUSIC · FILM · SERIES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607040" y="64922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/  07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58368" y="347472"/>
            <a:ext cx="155448" cy="155448"/>
          </a:xfrm>
          <a:prstGeom prst="ellipse">
            <a:avLst/>
          </a:prstGeom>
          <a:solidFill>
            <a:srgbClr val="C5F07B"/>
          </a:solidFill>
          <a:ln w="12700">
            <a:solidFill>
              <a:srgbClr val="C5F07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834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DISCOVERY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823960" y="3108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spc="12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ПРОЕКТНАЯ ПРЕЗЕНТАЦИЯ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58368" y="1417320"/>
            <a:ext cx="54864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3150" b="1" spc="-75" kern="0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AI-АССИСТЕНТ</a:t>
            </a:r>
            <a:endParaRPr lang="en-US" sz="3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3150" b="1" spc="-75" kern="0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ПОИСКА</a:t>
            </a:r>
            <a:endParaRPr lang="en-US" sz="3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3150" b="1" spc="-75" kern="0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МУЗЫКИ И КИНО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685800" y="363931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Музыка, фильмы и сериалы — по настроению, жанру и контексту, а не через бесконечный перебор каталогов.</a:t>
            </a:r>
            <a:endParaRPr lang="en-US" sz="1540" dirty="0"/>
          </a:p>
        </p:txBody>
      </p:sp>
      <p:sp>
        <p:nvSpPr>
          <p:cNvPr id="15" name="Shape 13"/>
          <p:cNvSpPr/>
          <p:nvPr/>
        </p:nvSpPr>
        <p:spPr>
          <a:xfrm>
            <a:off x="685800" y="4599432"/>
            <a:ext cx="2926080" cy="384048"/>
          </a:xfrm>
          <a:prstGeom prst="roundRect">
            <a:avLst>
              <a:gd name="adj" fmla="val 28571"/>
            </a:avLst>
          </a:prstGeom>
          <a:solidFill>
            <a:srgbClr val="867CFF"/>
          </a:solidFill>
          <a:ln w="12700">
            <a:solidFill>
              <a:srgbClr val="867C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608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spc="10" kern="0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ПО СМЫСЛУ И НАСТРОЕНИЮ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85800" y="5276088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spc="120" kern="0" dirty="0">
                <a:solidFill>
                  <a:srgbClr val="C5F0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 «ДАЮЩИЕ»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685800" y="5532120"/>
            <a:ext cx="5440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Шубин Сергей · Марков Артём · Шибаев Максим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Коновалов Егор · Голубев Михаил · Березовский Вячеслав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537960" y="1161288"/>
            <a:ext cx="5001768" cy="4892040"/>
          </a:xfrm>
          <a:prstGeom prst="roundRect">
            <a:avLst>
              <a:gd name="adj" fmla="val 2243"/>
            </a:avLst>
          </a:prstGeom>
          <a:solidFill>
            <a:srgbClr val="1B1B24"/>
          </a:solidFill>
          <a:ln w="10160">
            <a:solidFill>
              <a:srgbClr val="3030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444752"/>
            <a:ext cx="91440" cy="91440"/>
          </a:xfrm>
          <a:prstGeom prst="ellipse">
            <a:avLst/>
          </a:prstGeom>
          <a:solidFill>
            <a:srgbClr val="C5F07B"/>
          </a:solidFill>
          <a:ln w="12700">
            <a:solidFill>
              <a:srgbClr val="C5F07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3898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spc="120" kern="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ПОДБОРКА ДЛЯ ТЕБЯ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10789920" y="13898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1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6830568" y="1737360"/>
            <a:ext cx="4370832" cy="0"/>
          </a:xfrm>
          <a:prstGeom prst="line">
            <a:avLst/>
          </a:prstGeom>
          <a:noFill/>
          <a:ln w="10160">
            <a:solidFill>
              <a:srgbClr val="373744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6858000" y="1993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spc="140" kern="0" dirty="0">
                <a:solidFill>
                  <a:srgbClr val="867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ТВОЙ ЗАПРОС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830568" y="2267712"/>
            <a:ext cx="4407408" cy="804672"/>
          </a:xfrm>
          <a:prstGeom prst="roundRect">
            <a:avLst>
              <a:gd name="adj" fmla="val 13636"/>
            </a:avLst>
          </a:prstGeom>
          <a:solidFill>
            <a:srgbClr val="22222D"/>
          </a:solidFill>
          <a:ln w="10160">
            <a:solidFill>
              <a:srgbClr val="3434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9168" y="2386584"/>
            <a:ext cx="39136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«Хочу что-то спокойное</a:t>
            </a:r>
            <a:endParaRPr lang="en-US" sz="1610" dirty="0"/>
          </a:p>
          <a:p>
            <a:pPr indent="0" marL="0">
              <a:buNone/>
            </a:pPr>
            <a:r>
              <a:rPr lang="en-US" sz="16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вечернего отдыха»</a:t>
            </a:r>
            <a:endParaRPr lang="en-US" sz="1610" dirty="0"/>
          </a:p>
        </p:txBody>
      </p:sp>
      <p:sp>
        <p:nvSpPr>
          <p:cNvPr id="27" name="Text 25"/>
          <p:cNvSpPr/>
          <p:nvPr/>
        </p:nvSpPr>
        <p:spPr>
          <a:xfrm>
            <a:off x="6858000" y="33375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spc="11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ПОДХОДЯЩИЕ НАПРАВЛЕНИЯ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6830568" y="3675888"/>
            <a:ext cx="4407408" cy="621792"/>
          </a:xfrm>
          <a:prstGeom prst="roundRect">
            <a:avLst>
              <a:gd name="adj" fmla="val 17647"/>
            </a:avLst>
          </a:prstGeom>
          <a:solidFill>
            <a:srgbClr val="292443"/>
          </a:solidFill>
          <a:ln w="12700">
            <a:solidFill>
              <a:srgbClr val="29244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0568" y="3675888"/>
            <a:ext cx="73152" cy="621792"/>
          </a:xfrm>
          <a:prstGeom prst="roundRect">
            <a:avLst>
              <a:gd name="adj" fmla="val 150000"/>
            </a:avLst>
          </a:prstGeom>
          <a:solidFill>
            <a:srgbClr val="867CFF"/>
          </a:solidFill>
          <a:ln w="12700">
            <a:solidFill>
              <a:srgbClr val="867C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68312" y="3767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867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МУЗЫКА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068312" y="39684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мягкий инди-поп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30568" y="4407408"/>
            <a:ext cx="4407408" cy="621792"/>
          </a:xfrm>
          <a:prstGeom prst="roundRect">
            <a:avLst>
              <a:gd name="adj" fmla="val 17647"/>
            </a:avLst>
          </a:prstGeom>
          <a:solidFill>
            <a:srgbClr val="26313B"/>
          </a:solidFill>
          <a:ln w="12700">
            <a:solidFill>
              <a:srgbClr val="26313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30568" y="4407408"/>
            <a:ext cx="73152" cy="621792"/>
          </a:xfrm>
          <a:prstGeom prst="roundRect">
            <a:avLst>
              <a:gd name="adj" fmla="val 150000"/>
            </a:avLst>
          </a:prstGeom>
          <a:solidFill>
            <a:srgbClr val="8FB5FF"/>
          </a:solidFill>
          <a:ln w="12700">
            <a:solidFill>
              <a:srgbClr val="8FB5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68312" y="44988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8FB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КИНО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7068312" y="47000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атмосферная драма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30568" y="5138928"/>
            <a:ext cx="4407408" cy="621792"/>
          </a:xfrm>
          <a:prstGeom prst="roundRect">
            <a:avLst>
              <a:gd name="adj" fmla="val 17647"/>
            </a:avLst>
          </a:prstGeom>
          <a:solidFill>
            <a:srgbClr val="2B3424"/>
          </a:solidFill>
          <a:ln w="12700">
            <a:solidFill>
              <a:srgbClr val="2B342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30568" y="5138928"/>
            <a:ext cx="73152" cy="621792"/>
          </a:xfrm>
          <a:prstGeom prst="roundRect">
            <a:avLst>
              <a:gd name="adj" fmla="val 150000"/>
            </a:avLst>
          </a:prstGeom>
          <a:solidFill>
            <a:srgbClr val="C5F07B"/>
          </a:solidFill>
          <a:ln w="12700">
            <a:solidFill>
              <a:srgbClr val="C5F07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8312" y="52303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C5F0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СЕРИАЛЫ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7068312" y="54315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неспешный детектив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182880"/>
            <a:ext cx="3749040" cy="3291840"/>
          </a:xfrm>
          <a:prstGeom prst="ellipse">
            <a:avLst/>
          </a:prstGeom>
          <a:solidFill>
            <a:srgbClr val="5D52D9">
              <a:alpha val="12000"/>
            </a:srgbClr>
          </a:solidFill>
          <a:ln w="12700">
            <a:solidFill>
              <a:srgbClr val="5D52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840480"/>
            <a:ext cx="3611880" cy="2514600"/>
          </a:xfrm>
          <a:prstGeom prst="ellipse">
            <a:avLst/>
          </a:prstGeom>
          <a:solidFill>
            <a:srgbClr val="5E79F7">
              <a:alpha val="9000"/>
            </a:srgbClr>
          </a:solidFill>
          <a:ln w="12700">
            <a:solidFill>
              <a:srgbClr val="5E79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937760"/>
            <a:ext cx="2834640" cy="1508760"/>
          </a:xfrm>
          <a:prstGeom prst="ellipse">
            <a:avLst/>
          </a:prstGeom>
          <a:solidFill>
            <a:srgbClr val="91C94C">
              <a:alpha val="5000"/>
            </a:srgbClr>
          </a:solidFill>
          <a:ln w="12700">
            <a:solidFill>
              <a:srgbClr val="91C9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77824"/>
            <a:ext cx="11000232" cy="0"/>
          </a:xfrm>
          <a:prstGeom prst="line">
            <a:avLst/>
          </a:prstGeom>
          <a:noFill/>
          <a:ln w="7620">
            <a:solidFill>
              <a:srgbClr val="2B2B36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8890">
            <a:solidFill>
              <a:srgbClr val="373744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21792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ASSISTANT  /  MUSIC · FILM · SERIES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607040" y="64922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/  07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310896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180" kern="0" dirty="0">
                <a:solidFill>
                  <a:srgbClr val="C5F0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ПРОБЛЕМА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621792" y="960120"/>
            <a:ext cx="9966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spc="-60" kern="0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НЕ ДОЛЖЕН СТАНОВИТЬСЯ</a:t>
            </a:r>
            <a:endParaRPr lang="en-US" sz="2850" dirty="0"/>
          </a:p>
          <a:p>
            <a:pPr indent="0" marL="0">
              <a:buNone/>
            </a:pPr>
            <a:r>
              <a:rPr lang="en-US" sz="2850" b="1" spc="-60" kern="0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ПЕРЕБОРОМ КАТАЛОГОВ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658368" y="20574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причины, из-за которых трудно быстро найти «то самое».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40080" y="2587752"/>
            <a:ext cx="3447288" cy="2359152"/>
          </a:xfrm>
          <a:prstGeom prst="roundRect">
            <a:avLst>
              <a:gd name="adj" fmla="val 4651"/>
            </a:avLst>
          </a:prstGeom>
          <a:solidFill>
            <a:srgbClr val="1B1B24"/>
          </a:solidFill>
          <a:ln w="10160">
            <a:solidFill>
              <a:srgbClr val="3030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2852928"/>
            <a:ext cx="411480" cy="292608"/>
          </a:xfrm>
          <a:prstGeom prst="roundRect">
            <a:avLst>
              <a:gd name="adj" fmla="val 37500"/>
            </a:avLst>
          </a:prstGeom>
          <a:solidFill>
            <a:srgbClr val="867CFF"/>
          </a:solidFill>
          <a:ln w="12700">
            <a:solidFill>
              <a:srgbClr val="867C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28529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55848" y="2852928"/>
            <a:ext cx="384048" cy="73152"/>
          </a:xfrm>
          <a:prstGeom prst="roundRect">
            <a:avLst>
              <a:gd name="adj" fmla="val 150000"/>
            </a:avLst>
          </a:prstGeom>
          <a:solidFill>
            <a:srgbClr val="867CFF"/>
          </a:solidFill>
          <a:ln w="12700">
            <a:solidFill>
              <a:srgbClr val="867C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31012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Смысл теряется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77824" y="388620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Сервисы в основном ищут по ключевым словам и жанрам, но редко понимают эмоциональный подтекст и ситуацию.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70832" y="2587752"/>
            <a:ext cx="3447288" cy="2359152"/>
          </a:xfrm>
          <a:prstGeom prst="roundRect">
            <a:avLst>
              <a:gd name="adj" fmla="val 4651"/>
            </a:avLst>
          </a:prstGeom>
          <a:solidFill>
            <a:srgbClr val="1B1B24"/>
          </a:solidFill>
          <a:ln w="10160">
            <a:solidFill>
              <a:srgbClr val="3030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2852928"/>
            <a:ext cx="411480" cy="292608"/>
          </a:xfrm>
          <a:prstGeom prst="roundRect">
            <a:avLst>
              <a:gd name="adj" fmla="val 37500"/>
            </a:avLst>
          </a:prstGeom>
          <a:solidFill>
            <a:srgbClr val="8FB5FF"/>
          </a:solidFill>
          <a:ln w="12700">
            <a:solidFill>
              <a:srgbClr val="8FB5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28529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86600" y="2852928"/>
            <a:ext cx="384048" cy="73152"/>
          </a:xfrm>
          <a:prstGeom prst="roundRect">
            <a:avLst>
              <a:gd name="adj" fmla="val 150000"/>
            </a:avLst>
          </a:prstGeom>
          <a:solidFill>
            <a:srgbClr val="8FB5FF"/>
          </a:solidFill>
          <a:ln w="12700">
            <a:solidFill>
              <a:srgbClr val="8FB5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08576" y="331012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Каталоги разделены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4608576" y="388620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Музыка, фильмы и сериалы живут на разных платформах, а метаданные и способы поиска не совпадают.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01584" y="2587752"/>
            <a:ext cx="3447288" cy="2359152"/>
          </a:xfrm>
          <a:prstGeom prst="roundRect">
            <a:avLst>
              <a:gd name="adj" fmla="val 4651"/>
            </a:avLst>
          </a:prstGeom>
          <a:solidFill>
            <a:srgbClr val="1B1B24"/>
          </a:solidFill>
          <a:ln w="10160">
            <a:solidFill>
              <a:srgbClr val="3030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39328" y="2852928"/>
            <a:ext cx="411480" cy="292608"/>
          </a:xfrm>
          <a:prstGeom prst="roundRect">
            <a:avLst>
              <a:gd name="adj" fmla="val 37500"/>
            </a:avLst>
          </a:prstGeom>
          <a:solidFill>
            <a:srgbClr val="C5F07B"/>
          </a:solidFill>
          <a:ln w="12700">
            <a:solidFill>
              <a:srgbClr val="C5F07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9328" y="28529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817352" y="2852928"/>
            <a:ext cx="384048" cy="73152"/>
          </a:xfrm>
          <a:prstGeom prst="roundRect">
            <a:avLst>
              <a:gd name="adj" fmla="val 150000"/>
            </a:avLst>
          </a:prstGeom>
          <a:solidFill>
            <a:srgbClr val="C5F07B"/>
          </a:solidFill>
          <a:ln w="12700">
            <a:solidFill>
              <a:srgbClr val="C5F0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331012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Слишком много вариантов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8339328" y="388620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Похожие рекомендации повторяются, и пользователь тратит время, пытаясь выбрать подходящий вариант.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5285232"/>
            <a:ext cx="10908792" cy="667512"/>
          </a:xfrm>
          <a:prstGeom prst="roundRect">
            <a:avLst>
              <a:gd name="adj" fmla="val 16438"/>
            </a:avLst>
          </a:prstGeom>
          <a:solidFill>
            <a:srgbClr val="22222D"/>
          </a:solidFill>
          <a:ln w="10160">
            <a:solidFill>
              <a:srgbClr val="3939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285232"/>
            <a:ext cx="100584" cy="667512"/>
          </a:xfrm>
          <a:prstGeom prst="roundRect">
            <a:avLst>
              <a:gd name="adj" fmla="val 109091"/>
            </a:avLst>
          </a:prstGeom>
          <a:solidFill>
            <a:srgbClr val="867CFF"/>
          </a:solidFill>
          <a:ln w="12700">
            <a:solidFill>
              <a:srgbClr val="867C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54315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C5F0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ЗАДАЧА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847088" y="5385816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Понимать, что человеку нужно найти и какое настроение он хочет получить.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182880"/>
            <a:ext cx="3749040" cy="3291840"/>
          </a:xfrm>
          <a:prstGeom prst="ellipse">
            <a:avLst/>
          </a:prstGeom>
          <a:solidFill>
            <a:srgbClr val="5D52D9">
              <a:alpha val="12000"/>
            </a:srgbClr>
          </a:solidFill>
          <a:ln w="12700">
            <a:solidFill>
              <a:srgbClr val="5D52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840480"/>
            <a:ext cx="3611880" cy="2514600"/>
          </a:xfrm>
          <a:prstGeom prst="ellipse">
            <a:avLst/>
          </a:prstGeom>
          <a:solidFill>
            <a:srgbClr val="5E79F7">
              <a:alpha val="9000"/>
            </a:srgbClr>
          </a:solidFill>
          <a:ln w="12700">
            <a:solidFill>
              <a:srgbClr val="5E79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937760"/>
            <a:ext cx="2834640" cy="1508760"/>
          </a:xfrm>
          <a:prstGeom prst="ellipse">
            <a:avLst/>
          </a:prstGeom>
          <a:solidFill>
            <a:srgbClr val="91C94C">
              <a:alpha val="5000"/>
            </a:srgbClr>
          </a:solidFill>
          <a:ln w="12700">
            <a:solidFill>
              <a:srgbClr val="91C9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77824"/>
            <a:ext cx="11000232" cy="0"/>
          </a:xfrm>
          <a:prstGeom prst="line">
            <a:avLst/>
          </a:prstGeom>
          <a:noFill/>
          <a:ln w="7620">
            <a:solidFill>
              <a:srgbClr val="2B2B36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8890">
            <a:solidFill>
              <a:srgbClr val="373744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21792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ASSISTANT  /  MUSIC · FILM · SERIES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607040" y="64922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/  07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310896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180" kern="0" dirty="0">
                <a:solidFill>
                  <a:srgbClr val="C5F0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ИДЕЯ ПРОЕКТА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621792" y="1024128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spc="-60" kern="0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ЗАПРОСА — К ПОДХОДЯЩЕМУ КОНТЕНТУ</a:t>
            </a:r>
            <a:endParaRPr lang="en-US" sz="2750" dirty="0"/>
          </a:p>
        </p:txBody>
      </p:sp>
      <p:sp>
        <p:nvSpPr>
          <p:cNvPr id="12" name="Shape 10"/>
          <p:cNvSpPr/>
          <p:nvPr/>
        </p:nvSpPr>
        <p:spPr>
          <a:xfrm>
            <a:off x="640080" y="1828800"/>
            <a:ext cx="4251960" cy="1572768"/>
          </a:xfrm>
          <a:prstGeom prst="roundRect">
            <a:avLst>
              <a:gd name="adj" fmla="val 6977"/>
            </a:avLst>
          </a:prstGeom>
          <a:solidFill>
            <a:srgbClr val="1B1B24"/>
          </a:solidFill>
          <a:ln w="10160">
            <a:solidFill>
              <a:srgbClr val="3030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057400"/>
            <a:ext cx="1243584" cy="292608"/>
          </a:xfrm>
          <a:prstGeom prst="roundRect">
            <a:avLst>
              <a:gd name="adj" fmla="val 37500"/>
            </a:avLst>
          </a:prstGeom>
          <a:solidFill>
            <a:srgbClr val="8FB5FF"/>
          </a:solidFill>
          <a:ln w="12700">
            <a:solidFill>
              <a:srgbClr val="8FB5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06654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0" kern="0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96112" y="2496312"/>
            <a:ext cx="3685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Каталогов становится всё больше, а выбор подходящего контента занимает время. Ассистент помогает быстрее находить произведения под интересы пользователя.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40080" y="3602736"/>
            <a:ext cx="4251960" cy="1572768"/>
          </a:xfrm>
          <a:prstGeom prst="roundRect">
            <a:avLst>
              <a:gd name="adj" fmla="val 6977"/>
            </a:avLst>
          </a:prstGeom>
          <a:solidFill>
            <a:srgbClr val="1B1B24"/>
          </a:solidFill>
          <a:ln w="10160">
            <a:solidFill>
              <a:srgbClr val="3030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831336"/>
            <a:ext cx="841248" cy="292608"/>
          </a:xfrm>
          <a:prstGeom prst="roundRect">
            <a:avLst>
              <a:gd name="adj" fmla="val 37500"/>
            </a:avLst>
          </a:prstGeom>
          <a:solidFill>
            <a:srgbClr val="C5F07B"/>
          </a:solidFill>
          <a:ln w="12700">
            <a:solidFill>
              <a:srgbClr val="C5F07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8404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0" kern="0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96112" y="4270248"/>
            <a:ext cx="3685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Создать ассистента, который учитывает настроение, ситуацию и персональные предпочтения, чтобы предложить релевантный контент в один клик.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166360" y="1828800"/>
            <a:ext cx="6382512" cy="3346704"/>
          </a:xfrm>
          <a:prstGeom prst="roundRect">
            <a:avLst>
              <a:gd name="adj" fmla="val 3279"/>
            </a:avLst>
          </a:prstGeom>
          <a:solidFill>
            <a:srgbClr val="171720"/>
          </a:solidFill>
          <a:ln w="10160">
            <a:solidFill>
              <a:srgbClr val="3030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2084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spc="14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ВХОДНЫЕ ДАННЫЕ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468112" y="2468880"/>
            <a:ext cx="1280160" cy="356616"/>
          </a:xfrm>
          <a:prstGeom prst="roundRect">
            <a:avLst>
              <a:gd name="adj" fmla="val 30769"/>
            </a:avLst>
          </a:prstGeom>
          <a:solidFill>
            <a:srgbClr val="DCD8FF"/>
          </a:solidFill>
          <a:ln w="12700">
            <a:solidFill>
              <a:srgbClr val="DCD8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9552" y="2478024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spc="10" kern="0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настроение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5468112" y="2926080"/>
            <a:ext cx="1280160" cy="356616"/>
          </a:xfrm>
          <a:prstGeom prst="roundRect">
            <a:avLst>
              <a:gd name="adj" fmla="val 30769"/>
            </a:avLst>
          </a:prstGeom>
          <a:solidFill>
            <a:srgbClr val="C6D9FF"/>
          </a:solidFill>
          <a:ln w="12700">
            <a:solidFill>
              <a:srgbClr val="C6D9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2935224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spc="10" kern="0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ситуация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5468112" y="3383280"/>
            <a:ext cx="1280160" cy="356616"/>
          </a:xfrm>
          <a:prstGeom prst="roundRect">
            <a:avLst>
              <a:gd name="adj" fmla="val 30769"/>
            </a:avLst>
          </a:prstGeom>
          <a:solidFill>
            <a:srgbClr val="D5F4A8"/>
          </a:solidFill>
          <a:ln w="12700">
            <a:solidFill>
              <a:srgbClr val="D5F4A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59552" y="3392424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spc="10" kern="0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интересы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6839712" y="3154680"/>
            <a:ext cx="475488" cy="0"/>
          </a:xfrm>
          <a:prstGeom prst="line">
            <a:avLst/>
          </a:prstGeom>
          <a:noFill/>
          <a:ln w="22860">
            <a:solidFill>
              <a:srgbClr val="867CFF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7278624" y="2441448"/>
            <a:ext cx="1417320" cy="1417320"/>
          </a:xfrm>
          <a:prstGeom prst="ellipse">
            <a:avLst/>
          </a:prstGeom>
          <a:solidFill>
            <a:srgbClr val="867CFF"/>
          </a:solidFill>
          <a:ln w="15240">
            <a:solidFill>
              <a:srgbClr val="B7AE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34072" y="2596896"/>
            <a:ext cx="1106424" cy="1106424"/>
          </a:xfrm>
          <a:prstGeom prst="ellipse">
            <a:avLst/>
          </a:prstGeom>
          <a:solidFill>
            <a:srgbClr val="5D52D9">
              <a:alpha val="90000"/>
            </a:srgbClr>
          </a:solidFill>
          <a:ln w="10160">
            <a:solidFill>
              <a:srgbClr val="A49AFF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2798064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7315200" y="331927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E2D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8759952" y="3154680"/>
            <a:ext cx="402336" cy="0"/>
          </a:xfrm>
          <a:prstGeom prst="line">
            <a:avLst/>
          </a:prstGeom>
          <a:noFill/>
          <a:ln w="22860">
            <a:solidFill>
              <a:srgbClr val="C5F07B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9272016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spc="14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9262872" y="2468880"/>
            <a:ext cx="1938528" cy="548640"/>
          </a:xfrm>
          <a:prstGeom prst="roundRect">
            <a:avLst>
              <a:gd name="adj" fmla="val 20000"/>
            </a:avLst>
          </a:prstGeom>
          <a:solidFill>
            <a:srgbClr val="292443"/>
          </a:solidFill>
          <a:ln w="12700">
            <a:solidFill>
              <a:srgbClr val="29244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0" y="25786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867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МУЗЫКА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9262872" y="3154680"/>
            <a:ext cx="1938528" cy="548640"/>
          </a:xfrm>
          <a:prstGeom prst="roundRect">
            <a:avLst>
              <a:gd name="adj" fmla="val 20000"/>
            </a:avLst>
          </a:prstGeom>
          <a:solidFill>
            <a:srgbClr val="26313B"/>
          </a:solidFill>
          <a:ln w="12700">
            <a:solidFill>
              <a:srgbClr val="26313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18320" y="32644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8FB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ФИЛЬМЫ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9262872" y="3840480"/>
            <a:ext cx="1938528" cy="548640"/>
          </a:xfrm>
          <a:prstGeom prst="roundRect">
            <a:avLst>
              <a:gd name="adj" fmla="val 20000"/>
            </a:avLst>
          </a:prstGeom>
          <a:solidFill>
            <a:srgbClr val="2B3424"/>
          </a:solidFill>
          <a:ln w="12700">
            <a:solidFill>
              <a:srgbClr val="2B342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18320" y="39502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5F0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СЕРИАЛЫ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5486400" y="4709160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запрос → персональная подборка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5184648" y="5413248"/>
            <a:ext cx="6345936" cy="438912"/>
          </a:xfrm>
          <a:prstGeom prst="roundRect">
            <a:avLst>
              <a:gd name="adj" fmla="val 25000"/>
            </a:avLst>
          </a:prstGeom>
          <a:solidFill>
            <a:srgbClr val="867CFF"/>
          </a:solidFill>
          <a:ln w="12700">
            <a:solidFill>
              <a:srgbClr val="867C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76088" y="5422392"/>
            <a:ext cx="6163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spc="10" kern="0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МЕНЬШЕ ПОИСКА  ·  БОЛЬШЕ ПОПАДАНИЯ В НАСТРОЕНИЕ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182880"/>
            <a:ext cx="3749040" cy="3291840"/>
          </a:xfrm>
          <a:prstGeom prst="ellipse">
            <a:avLst/>
          </a:prstGeom>
          <a:solidFill>
            <a:srgbClr val="5D52D9">
              <a:alpha val="12000"/>
            </a:srgbClr>
          </a:solidFill>
          <a:ln w="12700">
            <a:solidFill>
              <a:srgbClr val="5D52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840480"/>
            <a:ext cx="3611880" cy="2514600"/>
          </a:xfrm>
          <a:prstGeom prst="ellipse">
            <a:avLst/>
          </a:prstGeom>
          <a:solidFill>
            <a:srgbClr val="5E79F7">
              <a:alpha val="9000"/>
            </a:srgbClr>
          </a:solidFill>
          <a:ln w="12700">
            <a:solidFill>
              <a:srgbClr val="5E79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937760"/>
            <a:ext cx="2834640" cy="1508760"/>
          </a:xfrm>
          <a:prstGeom prst="ellipse">
            <a:avLst/>
          </a:prstGeom>
          <a:solidFill>
            <a:srgbClr val="91C94C">
              <a:alpha val="5000"/>
            </a:srgbClr>
          </a:solidFill>
          <a:ln w="12700">
            <a:solidFill>
              <a:srgbClr val="91C9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77824"/>
            <a:ext cx="11000232" cy="0"/>
          </a:xfrm>
          <a:prstGeom prst="line">
            <a:avLst/>
          </a:prstGeom>
          <a:noFill/>
          <a:ln w="7620">
            <a:solidFill>
              <a:srgbClr val="2B2B36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8890">
            <a:solidFill>
              <a:srgbClr val="373744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21792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ASSISTANT  /  MUSIC · FILM · SERIES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607040" y="64922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/  07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310896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180" kern="0" dirty="0">
                <a:solidFill>
                  <a:srgbClr val="C5F0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ПРИМЕНЕНИЕ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621792" y="100584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-60" kern="0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ПОИСК — РАЗНЫЕ СЦЕНАРИИ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88720" y="1755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Целевая аудитория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1755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Когда это полезно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084832"/>
            <a:ext cx="10908792" cy="667512"/>
          </a:xfrm>
          <a:prstGeom prst="roundRect">
            <a:avLst>
              <a:gd name="adj" fmla="val 16438"/>
            </a:avLst>
          </a:prstGeom>
          <a:solidFill>
            <a:srgbClr val="1B1B24"/>
          </a:solidFill>
          <a:ln w="10160">
            <a:solidFill>
              <a:srgbClr val="2C2C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267712"/>
            <a:ext cx="411480" cy="292608"/>
          </a:xfrm>
          <a:prstGeom prst="roundRect">
            <a:avLst>
              <a:gd name="adj" fmla="val 37500"/>
            </a:avLst>
          </a:prstGeom>
          <a:solidFill>
            <a:srgbClr val="867CFF"/>
          </a:solidFill>
          <a:ln w="12700">
            <a:solidFill>
              <a:srgbClr val="867C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26771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44752" y="2176272"/>
            <a:ext cx="3703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Любители кино и сериалов</a:t>
            </a:r>
            <a:endParaRPr lang="en-US" sz="1310" dirty="0"/>
          </a:p>
        </p:txBody>
      </p:sp>
      <p:sp>
        <p:nvSpPr>
          <p:cNvPr id="18" name="Text 16"/>
          <p:cNvSpPr/>
          <p:nvPr/>
        </p:nvSpPr>
        <p:spPr>
          <a:xfrm>
            <a:off x="1444752" y="242316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Ищут, что посмотреть, по описанию, жанру или настроению.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50992" y="2212848"/>
            <a:ext cx="0" cy="411480"/>
          </a:xfrm>
          <a:prstGeom prst="line">
            <a:avLst/>
          </a:prstGeom>
          <a:noFill/>
          <a:ln w="8890">
            <a:solidFill>
              <a:srgbClr val="3A3A47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998464" y="2176272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Вечерний отдых</a:t>
            </a:r>
            <a:endParaRPr lang="en-US" sz="1310" dirty="0"/>
          </a:p>
        </p:txBody>
      </p:sp>
      <p:sp>
        <p:nvSpPr>
          <p:cNvPr id="21" name="Text 19"/>
          <p:cNvSpPr/>
          <p:nvPr/>
        </p:nvSpPr>
        <p:spPr>
          <a:xfrm>
            <a:off x="5998464" y="242316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Быстро подобрать фильм или сериал под настроение.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2898648"/>
            <a:ext cx="10908792" cy="667512"/>
          </a:xfrm>
          <a:prstGeom prst="roundRect">
            <a:avLst>
              <a:gd name="adj" fmla="val 16438"/>
            </a:avLst>
          </a:prstGeom>
          <a:solidFill>
            <a:srgbClr val="1B1B24"/>
          </a:solidFill>
          <a:ln w="10160">
            <a:solidFill>
              <a:srgbClr val="2C2C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081528"/>
            <a:ext cx="411480" cy="292608"/>
          </a:xfrm>
          <a:prstGeom prst="roundRect">
            <a:avLst>
              <a:gd name="adj" fmla="val 37500"/>
            </a:avLst>
          </a:prstGeom>
          <a:solidFill>
            <a:srgbClr val="8FB5FF"/>
          </a:solidFill>
          <a:ln w="12700">
            <a:solidFill>
              <a:srgbClr val="8FB5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0815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44752" y="2990088"/>
            <a:ext cx="3703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Любители музыки</a:t>
            </a:r>
            <a:endParaRPr lang="en-US" sz="1310" dirty="0"/>
          </a:p>
        </p:txBody>
      </p:sp>
      <p:sp>
        <p:nvSpPr>
          <p:cNvPr id="26" name="Text 24"/>
          <p:cNvSpPr/>
          <p:nvPr/>
        </p:nvSpPr>
        <p:spPr>
          <a:xfrm>
            <a:off x="1444752" y="323697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Подбирают треки по жанру, эмоции или похожим исполнителям.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50992" y="3026664"/>
            <a:ext cx="0" cy="411480"/>
          </a:xfrm>
          <a:prstGeom prst="line">
            <a:avLst/>
          </a:prstGeom>
          <a:noFill/>
          <a:ln w="8890">
            <a:solidFill>
              <a:srgbClr val="3A3A47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5998464" y="299008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музыки</a:t>
            </a:r>
            <a:endParaRPr lang="en-US" sz="1310" dirty="0"/>
          </a:p>
        </p:txBody>
      </p:sp>
      <p:sp>
        <p:nvSpPr>
          <p:cNvPr id="29" name="Text 27"/>
          <p:cNvSpPr/>
          <p:nvPr/>
        </p:nvSpPr>
        <p:spPr>
          <a:xfrm>
            <a:off x="5998464" y="323697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Найти трек или исполнителя по свободному описанию.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3712464"/>
            <a:ext cx="10908792" cy="667512"/>
          </a:xfrm>
          <a:prstGeom prst="roundRect">
            <a:avLst>
              <a:gd name="adj" fmla="val 16438"/>
            </a:avLst>
          </a:prstGeom>
          <a:solidFill>
            <a:srgbClr val="1B1B24"/>
          </a:solidFill>
          <a:ln w="10160">
            <a:solidFill>
              <a:srgbClr val="2C2C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3895344"/>
            <a:ext cx="411480" cy="292608"/>
          </a:xfrm>
          <a:prstGeom prst="roundRect">
            <a:avLst>
              <a:gd name="adj" fmla="val 37500"/>
            </a:avLst>
          </a:prstGeom>
          <a:solidFill>
            <a:srgbClr val="C5F07B"/>
          </a:solidFill>
          <a:ln w="12700">
            <a:solidFill>
              <a:srgbClr val="C5F07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389534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44752" y="3803904"/>
            <a:ext cx="3703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Обычные пользователи</a:t>
            </a:r>
            <a:endParaRPr lang="en-US" sz="1310" dirty="0"/>
          </a:p>
        </p:txBody>
      </p:sp>
      <p:sp>
        <p:nvSpPr>
          <p:cNvPr id="34" name="Text 32"/>
          <p:cNvSpPr/>
          <p:nvPr/>
        </p:nvSpPr>
        <p:spPr>
          <a:xfrm>
            <a:off x="1444752" y="405079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Хотят получать удобные рекомендации в одном месте.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50992" y="3840480"/>
            <a:ext cx="0" cy="411480"/>
          </a:xfrm>
          <a:prstGeom prst="line">
            <a:avLst/>
          </a:prstGeom>
          <a:noFill/>
          <a:ln w="8890">
            <a:solidFill>
              <a:srgbClr val="3A3A47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5998464" y="3803904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Персональный выбор</a:t>
            </a:r>
            <a:endParaRPr lang="en-US" sz="1310" dirty="0"/>
          </a:p>
        </p:txBody>
      </p:sp>
      <p:sp>
        <p:nvSpPr>
          <p:cNvPr id="37" name="Text 35"/>
          <p:cNvSpPr/>
          <p:nvPr/>
        </p:nvSpPr>
        <p:spPr>
          <a:xfrm>
            <a:off x="5998464" y="405079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Получить варианты с учётом интересов и предпочтений.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" y="4526280"/>
            <a:ext cx="10908792" cy="667512"/>
          </a:xfrm>
          <a:prstGeom prst="roundRect">
            <a:avLst>
              <a:gd name="adj" fmla="val 16438"/>
            </a:avLst>
          </a:prstGeom>
          <a:solidFill>
            <a:srgbClr val="1B1B24"/>
          </a:solidFill>
          <a:ln w="10160">
            <a:solidFill>
              <a:srgbClr val="2C2C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" y="4709160"/>
            <a:ext cx="411480" cy="292608"/>
          </a:xfrm>
          <a:prstGeom prst="roundRect">
            <a:avLst>
              <a:gd name="adj" fmla="val 37500"/>
            </a:avLst>
          </a:prstGeom>
          <a:solidFill>
            <a:srgbClr val="FFA5D5"/>
          </a:solidFill>
          <a:ln w="12700">
            <a:solidFill>
              <a:srgbClr val="FFA5D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470916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444752" y="4617720"/>
            <a:ext cx="3703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Создатели контента</a:t>
            </a:r>
            <a:endParaRPr lang="en-US" sz="1310" dirty="0"/>
          </a:p>
        </p:txBody>
      </p:sp>
      <p:sp>
        <p:nvSpPr>
          <p:cNvPr id="42" name="Text 40"/>
          <p:cNvSpPr/>
          <p:nvPr/>
        </p:nvSpPr>
        <p:spPr>
          <a:xfrm>
            <a:off x="1444752" y="486460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Ищут новые идеи и материалы для творчества.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50992" y="4654296"/>
            <a:ext cx="0" cy="411480"/>
          </a:xfrm>
          <a:prstGeom prst="line">
            <a:avLst/>
          </a:prstGeom>
          <a:noFill/>
          <a:ln w="8890">
            <a:solidFill>
              <a:srgbClr val="3A3A47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5998464" y="4617720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Вдохновение</a:t>
            </a:r>
            <a:endParaRPr lang="en-US" sz="1310" dirty="0"/>
          </a:p>
        </p:txBody>
      </p:sp>
      <p:sp>
        <p:nvSpPr>
          <p:cNvPr id="45" name="Text 43"/>
          <p:cNvSpPr/>
          <p:nvPr/>
        </p:nvSpPr>
        <p:spPr>
          <a:xfrm>
            <a:off x="5998464" y="48646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Подобрать музыку или фильм для проекта и творческой задачи.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0080" y="5532120"/>
            <a:ext cx="10908792" cy="429768"/>
          </a:xfrm>
          <a:prstGeom prst="roundRect">
            <a:avLst>
              <a:gd name="adj" fmla="val 25532"/>
            </a:avLst>
          </a:prstGeom>
          <a:solidFill>
            <a:srgbClr val="22222D"/>
          </a:solidFill>
          <a:ln w="10160">
            <a:solidFill>
              <a:srgbClr val="4A426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" y="56418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C5F0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ГЛАВНАЯ ИДЕЯ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212848" y="5605272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Быстро находить подходящий контент и экономить время пользователя.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182880"/>
            <a:ext cx="3749040" cy="3291840"/>
          </a:xfrm>
          <a:prstGeom prst="ellipse">
            <a:avLst/>
          </a:prstGeom>
          <a:solidFill>
            <a:srgbClr val="5D52D9">
              <a:alpha val="12000"/>
            </a:srgbClr>
          </a:solidFill>
          <a:ln w="12700">
            <a:solidFill>
              <a:srgbClr val="5D52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840480"/>
            <a:ext cx="3611880" cy="2514600"/>
          </a:xfrm>
          <a:prstGeom prst="ellipse">
            <a:avLst/>
          </a:prstGeom>
          <a:solidFill>
            <a:srgbClr val="5E79F7">
              <a:alpha val="9000"/>
            </a:srgbClr>
          </a:solidFill>
          <a:ln w="12700">
            <a:solidFill>
              <a:srgbClr val="5E79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937760"/>
            <a:ext cx="2834640" cy="1508760"/>
          </a:xfrm>
          <a:prstGeom prst="ellipse">
            <a:avLst/>
          </a:prstGeom>
          <a:solidFill>
            <a:srgbClr val="91C94C">
              <a:alpha val="5000"/>
            </a:srgbClr>
          </a:solidFill>
          <a:ln w="12700">
            <a:solidFill>
              <a:srgbClr val="91C9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77824"/>
            <a:ext cx="11000232" cy="0"/>
          </a:xfrm>
          <a:prstGeom prst="line">
            <a:avLst/>
          </a:prstGeom>
          <a:noFill/>
          <a:ln w="7620">
            <a:solidFill>
              <a:srgbClr val="2B2B36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8890">
            <a:solidFill>
              <a:srgbClr val="373744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21792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ASSISTANT  /  MUSIC · FILM · SERIES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607040" y="64922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/  07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310896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180" kern="0" dirty="0">
                <a:solidFill>
                  <a:srgbClr val="C5F0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АНАЛИЗ РЫНКА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621792" y="98755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70" b="1" spc="-60" kern="0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КАТАЛОГИ ЕСТЬ. ЕДИНОГО ПОИСКА НЕ ХВАТАЕТ.</a:t>
            </a:r>
            <a:endParaRPr lang="en-US" sz="2570" dirty="0"/>
          </a:p>
        </p:txBody>
      </p:sp>
      <p:sp>
        <p:nvSpPr>
          <p:cNvPr id="12" name="Text 10"/>
          <p:cNvSpPr/>
          <p:nvPr/>
        </p:nvSpPr>
        <p:spPr>
          <a:xfrm>
            <a:off x="658368" y="16367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Сравнение существующих сервисов по контенту и ключевым функциям.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1993392"/>
            <a:ext cx="10908792" cy="393192"/>
          </a:xfrm>
          <a:prstGeom prst="roundRect">
            <a:avLst>
              <a:gd name="adj" fmla="val 27907"/>
            </a:avLst>
          </a:prstGeom>
          <a:solidFill>
            <a:srgbClr val="292936"/>
          </a:solidFill>
          <a:ln w="12700">
            <a:solidFill>
              <a:srgbClr val="29293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09397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spc="80" kern="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СЕРВИС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2606040" y="209397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spc="80" kern="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 КОНТЕНТА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4690872" y="2093976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spc="80" kern="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КЛЮЧЕВЫЕ ФУНКЦИИ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8366760" y="209397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spc="80" kern="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ОХВАТ В ИСХОДНИКЕ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640080" y="2487168"/>
            <a:ext cx="10908792" cy="493776"/>
          </a:xfrm>
          <a:prstGeom prst="roundRect">
            <a:avLst>
              <a:gd name="adj" fmla="val 22222"/>
            </a:avLst>
          </a:prstGeom>
          <a:solidFill>
            <a:srgbClr val="1B1B24"/>
          </a:solidFill>
          <a:ln w="10160">
            <a:solidFill>
              <a:srgbClr val="2A2A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2615184"/>
            <a:ext cx="54864" cy="237744"/>
          </a:xfrm>
          <a:prstGeom prst="roundRect">
            <a:avLst>
              <a:gd name="adj" fmla="val 200000"/>
            </a:avLst>
          </a:prstGeom>
          <a:solidFill>
            <a:srgbClr val="C5F07B"/>
          </a:solidFill>
          <a:ln w="12700">
            <a:solidFill>
              <a:srgbClr val="C5F0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5786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Spotify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2606040" y="2560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Музыка и подкасты</a:t>
            </a:r>
            <a:endParaRPr lang="en-US" sz="990" dirty="0"/>
          </a:p>
        </p:txBody>
      </p:sp>
      <p:sp>
        <p:nvSpPr>
          <p:cNvPr id="22" name="Text 20"/>
          <p:cNvSpPr/>
          <p:nvPr/>
        </p:nvSpPr>
        <p:spPr>
          <a:xfrm>
            <a:off x="4700016" y="25603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Рекомендации, плейлисты, аудиостриминг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385048" y="2560320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180+ млн подписчиков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40080" y="3072384"/>
            <a:ext cx="10908792" cy="493776"/>
          </a:xfrm>
          <a:prstGeom prst="roundRect">
            <a:avLst>
              <a:gd name="adj" fmla="val 22222"/>
            </a:avLst>
          </a:prstGeom>
          <a:solidFill>
            <a:srgbClr val="17171F"/>
          </a:solidFill>
          <a:ln w="10160">
            <a:solidFill>
              <a:srgbClr val="2A2A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3200400"/>
            <a:ext cx="54864" cy="237744"/>
          </a:xfrm>
          <a:prstGeom prst="roundRect">
            <a:avLst>
              <a:gd name="adj" fmla="val 200000"/>
            </a:avLst>
          </a:prstGeom>
          <a:solidFill>
            <a:srgbClr val="8FB5FF"/>
          </a:solidFill>
          <a:ln w="12700">
            <a:solidFill>
              <a:srgbClr val="8FB5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1638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Shazam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2606040" y="31455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Аудиофрагменты</a:t>
            </a:r>
            <a:endParaRPr lang="en-US" sz="990" dirty="0"/>
          </a:p>
        </p:txBody>
      </p:sp>
      <p:sp>
        <p:nvSpPr>
          <p:cNvPr id="28" name="Text 26"/>
          <p:cNvSpPr/>
          <p:nvPr/>
        </p:nvSpPr>
        <p:spPr>
          <a:xfrm>
            <a:off x="4700016" y="314553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Распознавание треков, ссылки на стриминг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8385048" y="3145536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225+ млн загрузок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40080" y="3657600"/>
            <a:ext cx="10908792" cy="493776"/>
          </a:xfrm>
          <a:prstGeom prst="roundRect">
            <a:avLst>
              <a:gd name="adj" fmla="val 22222"/>
            </a:avLst>
          </a:prstGeom>
          <a:solidFill>
            <a:srgbClr val="1B1B24"/>
          </a:solidFill>
          <a:ln w="10160">
            <a:solidFill>
              <a:srgbClr val="2A2A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" y="3785616"/>
            <a:ext cx="54864" cy="237744"/>
          </a:xfrm>
          <a:prstGeom prst="roundRect">
            <a:avLst>
              <a:gd name="adj" fmla="val 200000"/>
            </a:avLst>
          </a:prstGeom>
          <a:solidFill>
            <a:srgbClr val="867CFF"/>
          </a:solidFill>
          <a:ln w="12700">
            <a:solidFill>
              <a:srgbClr val="867C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3749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IMDb</a:t>
            </a:r>
            <a:endParaRPr lang="en-US" sz="1210" dirty="0"/>
          </a:p>
        </p:txBody>
      </p:sp>
      <p:sp>
        <p:nvSpPr>
          <p:cNvPr id="33" name="Text 31"/>
          <p:cNvSpPr/>
          <p:nvPr/>
        </p:nvSpPr>
        <p:spPr>
          <a:xfrm>
            <a:off x="2606040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Фильмы и сериалы</a:t>
            </a:r>
            <a:endParaRPr lang="en-US" sz="990" dirty="0"/>
          </a:p>
        </p:txBody>
      </p:sp>
      <p:sp>
        <p:nvSpPr>
          <p:cNvPr id="34" name="Text 32"/>
          <p:cNvSpPr/>
          <p:nvPr/>
        </p:nvSpPr>
        <p:spPr>
          <a:xfrm>
            <a:off x="4700016" y="373075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База данных, рейтинги, отзывы, трейлеры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8385048" y="3730752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200+ млн пользователей/мес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40080" y="4242816"/>
            <a:ext cx="10908792" cy="493776"/>
          </a:xfrm>
          <a:prstGeom prst="roundRect">
            <a:avLst>
              <a:gd name="adj" fmla="val 22222"/>
            </a:avLst>
          </a:prstGeom>
          <a:solidFill>
            <a:srgbClr val="17171F"/>
          </a:solidFill>
          <a:ln w="10160">
            <a:solidFill>
              <a:srgbClr val="2A2A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5528" y="4370832"/>
            <a:ext cx="54864" cy="237744"/>
          </a:xfrm>
          <a:prstGeom prst="roundRect">
            <a:avLst>
              <a:gd name="adj" fmla="val 200000"/>
            </a:avLst>
          </a:prstGeom>
          <a:solidFill>
            <a:srgbClr val="FFA5D5"/>
          </a:solidFill>
          <a:ln w="12700">
            <a:solidFill>
              <a:srgbClr val="FFA5D5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43342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Кинопоиск</a:t>
            </a:r>
            <a:endParaRPr lang="en-US" sz="1210" dirty="0"/>
          </a:p>
        </p:txBody>
      </p:sp>
      <p:sp>
        <p:nvSpPr>
          <p:cNvPr id="39" name="Text 37"/>
          <p:cNvSpPr/>
          <p:nvPr/>
        </p:nvSpPr>
        <p:spPr>
          <a:xfrm>
            <a:off x="2606040" y="4315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Фильмы и сериалы</a:t>
            </a:r>
            <a:endParaRPr lang="en-US" sz="990" dirty="0"/>
          </a:p>
        </p:txBody>
      </p:sp>
      <p:sp>
        <p:nvSpPr>
          <p:cNvPr id="40" name="Text 38"/>
          <p:cNvSpPr/>
          <p:nvPr/>
        </p:nvSpPr>
        <p:spPr>
          <a:xfrm>
            <a:off x="4700016" y="431596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Онлайн-кинотеатр, рейтинги, рекомендации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8385048" y="4315968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 млн подписчиков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640080" y="4828032"/>
            <a:ext cx="10908792" cy="493776"/>
          </a:xfrm>
          <a:prstGeom prst="roundRect">
            <a:avLst>
              <a:gd name="adj" fmla="val 22222"/>
            </a:avLst>
          </a:prstGeom>
          <a:solidFill>
            <a:srgbClr val="1B1B24"/>
          </a:solidFill>
          <a:ln w="10160">
            <a:solidFill>
              <a:srgbClr val="2A2A3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5528" y="4956048"/>
            <a:ext cx="54864" cy="237744"/>
          </a:xfrm>
          <a:prstGeom prst="roundRect">
            <a:avLst>
              <a:gd name="adj" fmla="val 200000"/>
            </a:avLst>
          </a:prstGeom>
          <a:solidFill>
            <a:srgbClr val="C5F07B"/>
          </a:solidFill>
          <a:ln w="12700">
            <a:solidFill>
              <a:srgbClr val="C5F07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0120" y="49194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Netflix Search</a:t>
            </a:r>
            <a:endParaRPr lang="en-US" sz="1210" dirty="0"/>
          </a:p>
        </p:txBody>
      </p:sp>
      <p:sp>
        <p:nvSpPr>
          <p:cNvPr id="45" name="Text 43"/>
          <p:cNvSpPr/>
          <p:nvPr/>
        </p:nvSpPr>
        <p:spPr>
          <a:xfrm>
            <a:off x="2606040" y="49011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Фильмы и сериалы</a:t>
            </a:r>
            <a:endParaRPr lang="en-US" sz="990" dirty="0"/>
          </a:p>
        </p:txBody>
      </p:sp>
      <p:sp>
        <p:nvSpPr>
          <p:cNvPr id="46" name="Text 44"/>
          <p:cNvSpPr/>
          <p:nvPr/>
        </p:nvSpPr>
        <p:spPr>
          <a:xfrm>
            <a:off x="4700016" y="490118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по каталогу, персональные рекомендации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8385048" y="4901184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260+ млн подписчиков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685800" y="565099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i="1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Примечание: показатели охвата перенесены из исходной презентации; год данных не указан.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658368" y="5925312"/>
            <a:ext cx="3794760" cy="292608"/>
          </a:xfrm>
          <a:prstGeom prst="roundRect">
            <a:avLst>
              <a:gd name="adj" fmla="val 37500"/>
            </a:avLst>
          </a:prstGeom>
          <a:solidFill>
            <a:srgbClr val="867CFF"/>
          </a:solidFill>
          <a:ln w="12700">
            <a:solidFill>
              <a:srgbClr val="867C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" y="59344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" kern="0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НИША ПРОЕКТА — ПОИСК МЕЖДУ КАТЕГОРИЯМИ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182880"/>
            <a:ext cx="3749040" cy="3291840"/>
          </a:xfrm>
          <a:prstGeom prst="ellipse">
            <a:avLst/>
          </a:prstGeom>
          <a:solidFill>
            <a:srgbClr val="5D52D9">
              <a:alpha val="12000"/>
            </a:srgbClr>
          </a:solidFill>
          <a:ln w="12700">
            <a:solidFill>
              <a:srgbClr val="5D52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840480"/>
            <a:ext cx="3611880" cy="2514600"/>
          </a:xfrm>
          <a:prstGeom prst="ellipse">
            <a:avLst/>
          </a:prstGeom>
          <a:solidFill>
            <a:srgbClr val="5E79F7">
              <a:alpha val="9000"/>
            </a:srgbClr>
          </a:solidFill>
          <a:ln w="12700">
            <a:solidFill>
              <a:srgbClr val="5E79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937760"/>
            <a:ext cx="2834640" cy="1508760"/>
          </a:xfrm>
          <a:prstGeom prst="ellipse">
            <a:avLst/>
          </a:prstGeom>
          <a:solidFill>
            <a:srgbClr val="91C94C">
              <a:alpha val="5000"/>
            </a:srgbClr>
          </a:solidFill>
          <a:ln w="12700">
            <a:solidFill>
              <a:srgbClr val="91C9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77824"/>
            <a:ext cx="11000232" cy="0"/>
          </a:xfrm>
          <a:prstGeom prst="line">
            <a:avLst/>
          </a:prstGeom>
          <a:noFill/>
          <a:ln w="7620">
            <a:solidFill>
              <a:srgbClr val="2B2B36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8890">
            <a:solidFill>
              <a:srgbClr val="373744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21792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ASSISTANT  /  MUSIC · FILM · SERIES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607040" y="64922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/  07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310896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180" kern="0" dirty="0">
                <a:solidFill>
                  <a:srgbClr val="C5F0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ПРОДУКТ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621792" y="987552"/>
            <a:ext cx="10972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20" b="1" spc="-60" kern="0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ЧЕТЫРЕ ФУНКЦИИ — МЕНЬШЕ ЛИШНИХ ШАГОВ</a:t>
            </a:r>
            <a:endParaRPr lang="en-US" sz="2620" dirty="0"/>
          </a:p>
        </p:txBody>
      </p:sp>
      <p:sp>
        <p:nvSpPr>
          <p:cNvPr id="12" name="Text 10"/>
          <p:cNvSpPr/>
          <p:nvPr/>
        </p:nvSpPr>
        <p:spPr>
          <a:xfrm>
            <a:off x="658368" y="16367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должен уметь финальный AI-ассистент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057400"/>
            <a:ext cx="5349240" cy="1664208"/>
          </a:xfrm>
          <a:prstGeom prst="roundRect">
            <a:avLst>
              <a:gd name="adj" fmla="val 6593"/>
            </a:avLst>
          </a:prstGeom>
          <a:solidFill>
            <a:srgbClr val="1B1B24"/>
          </a:solidFill>
          <a:ln w="10160">
            <a:solidFill>
              <a:srgbClr val="3030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313432"/>
            <a:ext cx="411480" cy="292608"/>
          </a:xfrm>
          <a:prstGeom prst="roundRect">
            <a:avLst>
              <a:gd name="adj" fmla="val 37500"/>
            </a:avLst>
          </a:prstGeom>
          <a:solidFill>
            <a:srgbClr val="867CFF"/>
          </a:solidFill>
          <a:ln w="12700">
            <a:solidFill>
              <a:srgbClr val="867C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3134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66360" y="2340864"/>
            <a:ext cx="457200" cy="73152"/>
          </a:xfrm>
          <a:prstGeom prst="roundRect">
            <a:avLst>
              <a:gd name="adj" fmla="val 150000"/>
            </a:avLst>
          </a:prstGeom>
          <a:solidFill>
            <a:srgbClr val="867CFF"/>
          </a:solidFill>
          <a:ln w="12700">
            <a:solidFill>
              <a:srgbClr val="867C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770632"/>
            <a:ext cx="4709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Умный поиск по тексту и голосу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6112" y="3172968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Пользователь описывает запрос своими словами или произносит его голосом — система понимает смысл и находит подходящее.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199632" y="2057400"/>
            <a:ext cx="5349240" cy="1664208"/>
          </a:xfrm>
          <a:prstGeom prst="roundRect">
            <a:avLst>
              <a:gd name="adj" fmla="val 6593"/>
            </a:avLst>
          </a:prstGeom>
          <a:solidFill>
            <a:srgbClr val="1B1B24"/>
          </a:solidFill>
          <a:ln w="10160">
            <a:solidFill>
              <a:srgbClr val="3030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5664" y="2313432"/>
            <a:ext cx="411480" cy="292608"/>
          </a:xfrm>
          <a:prstGeom prst="roundRect">
            <a:avLst>
              <a:gd name="adj" fmla="val 37500"/>
            </a:avLst>
          </a:prstGeom>
          <a:solidFill>
            <a:srgbClr val="8FB5FF"/>
          </a:solidFill>
          <a:ln w="12700">
            <a:solidFill>
              <a:srgbClr val="8FB5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23134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725912" y="2340864"/>
            <a:ext cx="457200" cy="73152"/>
          </a:xfrm>
          <a:prstGeom prst="roundRect">
            <a:avLst>
              <a:gd name="adj" fmla="val 150000"/>
            </a:avLst>
          </a:prstGeom>
          <a:solidFill>
            <a:srgbClr val="8FB5FF"/>
          </a:solidFill>
          <a:ln w="12700">
            <a:solidFill>
              <a:srgbClr val="8FB5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2770632"/>
            <a:ext cx="4709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Персональные рекомендации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55664" y="3172968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Ассистент учитывает интересы и предпочтения, чтобы предлагать релевантный контент и экономить время.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40080" y="4041648"/>
            <a:ext cx="5349240" cy="1664208"/>
          </a:xfrm>
          <a:prstGeom prst="roundRect">
            <a:avLst>
              <a:gd name="adj" fmla="val 6593"/>
            </a:avLst>
          </a:prstGeom>
          <a:solidFill>
            <a:srgbClr val="1B1B24"/>
          </a:solidFill>
          <a:ln w="10160">
            <a:solidFill>
              <a:srgbClr val="3030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4297680"/>
            <a:ext cx="411480" cy="292608"/>
          </a:xfrm>
          <a:prstGeom prst="roundRect">
            <a:avLst>
              <a:gd name="adj" fmla="val 37500"/>
            </a:avLst>
          </a:prstGeom>
          <a:solidFill>
            <a:srgbClr val="C5F07B"/>
          </a:solidFill>
          <a:ln w="12700">
            <a:solidFill>
              <a:srgbClr val="C5F07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42976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66360" y="4325112"/>
            <a:ext cx="457200" cy="73152"/>
          </a:xfrm>
          <a:prstGeom prst="roundRect">
            <a:avLst>
              <a:gd name="adj" fmla="val 150000"/>
            </a:avLst>
          </a:prstGeom>
          <a:solidFill>
            <a:srgbClr val="C5F07B"/>
          </a:solidFill>
          <a:ln w="12700">
            <a:solidFill>
              <a:srgbClr val="C5F0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4754880"/>
            <a:ext cx="4709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Тематические подборки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96112" y="5157216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Готовые подборки по темам и настроению помогают выбирать музыку, фильмы и сериалы без ручного отбора.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199632" y="4041648"/>
            <a:ext cx="5349240" cy="1664208"/>
          </a:xfrm>
          <a:prstGeom prst="roundRect">
            <a:avLst>
              <a:gd name="adj" fmla="val 6593"/>
            </a:avLst>
          </a:prstGeom>
          <a:solidFill>
            <a:srgbClr val="1B1B24"/>
          </a:solidFill>
          <a:ln w="10160">
            <a:solidFill>
              <a:srgbClr val="3030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55664" y="4297680"/>
            <a:ext cx="411480" cy="292608"/>
          </a:xfrm>
          <a:prstGeom prst="roundRect">
            <a:avLst>
              <a:gd name="adj" fmla="val 37500"/>
            </a:avLst>
          </a:prstGeom>
          <a:solidFill>
            <a:srgbClr val="FFA5D5"/>
          </a:solidFill>
          <a:ln w="12700">
            <a:solidFill>
              <a:srgbClr val="FFA5D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42976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725912" y="4325112"/>
            <a:ext cx="457200" cy="73152"/>
          </a:xfrm>
          <a:prstGeom prst="roundRect">
            <a:avLst>
              <a:gd name="adj" fmla="val 150000"/>
            </a:avLst>
          </a:prstGeom>
          <a:solidFill>
            <a:srgbClr val="FFA5D5"/>
          </a:solidFill>
          <a:ln w="12700">
            <a:solidFill>
              <a:srgbClr val="FFA5D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4754880"/>
            <a:ext cx="4709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Гибкие фильтры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55664" y="5157216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Фильтры по категории, дате и другим параметрам помогают сузить выдачу до подходящих результатов.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685800" y="59893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867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 / ГОЛОС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240280" y="598932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8FB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КОНТЕКСТ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29000" y="5989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C5F0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РЕКОМЕНДАЦИИ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74920" y="59893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FFA5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ФИЛЬТРЫ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 w="12700">
            <a:solidFill>
              <a:srgbClr val="1010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182880"/>
            <a:ext cx="3749040" cy="3291840"/>
          </a:xfrm>
          <a:prstGeom prst="ellipse">
            <a:avLst/>
          </a:prstGeom>
          <a:solidFill>
            <a:srgbClr val="5D52D9">
              <a:alpha val="12000"/>
            </a:srgbClr>
          </a:solidFill>
          <a:ln w="12700">
            <a:solidFill>
              <a:srgbClr val="5D52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840480"/>
            <a:ext cx="3611880" cy="2514600"/>
          </a:xfrm>
          <a:prstGeom prst="ellipse">
            <a:avLst/>
          </a:prstGeom>
          <a:solidFill>
            <a:srgbClr val="5E79F7">
              <a:alpha val="9000"/>
            </a:srgbClr>
          </a:solidFill>
          <a:ln w="12700">
            <a:solidFill>
              <a:srgbClr val="5E79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937760"/>
            <a:ext cx="2834640" cy="1508760"/>
          </a:xfrm>
          <a:prstGeom prst="ellipse">
            <a:avLst/>
          </a:prstGeom>
          <a:solidFill>
            <a:srgbClr val="91C94C">
              <a:alpha val="5000"/>
            </a:srgbClr>
          </a:solidFill>
          <a:ln w="12700">
            <a:solidFill>
              <a:srgbClr val="91C9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877824"/>
            <a:ext cx="11000232" cy="0"/>
          </a:xfrm>
          <a:prstGeom prst="line">
            <a:avLst/>
          </a:prstGeom>
          <a:noFill/>
          <a:ln w="7620">
            <a:solidFill>
              <a:srgbClr val="2B2B36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8890">
            <a:solidFill>
              <a:srgbClr val="373744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21792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ASSISTANT  /  MUSIC · FILM · SERIES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607040" y="64922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/  07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58368" y="356616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180" kern="0" dirty="0">
                <a:solidFill>
                  <a:srgbClr val="C5F0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 «ДАЮЩИЕ»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658368" y="1508760"/>
            <a:ext cx="649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50" b="1" spc="-125" kern="0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СПАСИБО</a:t>
            </a:r>
            <a:endParaRPr lang="en-US" sz="4350" dirty="0"/>
          </a:p>
          <a:p>
            <a:pPr indent="0" marL="0">
              <a:buNone/>
            </a:pPr>
            <a:r>
              <a:rPr lang="en-US" sz="4350" b="1" spc="-125" kern="0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 ВНИМАНИЕ</a:t>
            </a:r>
            <a:endParaRPr lang="en-US" sz="4350" dirty="0"/>
          </a:p>
        </p:txBody>
      </p:sp>
      <p:sp>
        <p:nvSpPr>
          <p:cNvPr id="12" name="Text 10"/>
          <p:cNvSpPr/>
          <p:nvPr/>
        </p:nvSpPr>
        <p:spPr>
          <a:xfrm>
            <a:off x="713232" y="37947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B3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Есть вопросы?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13232" y="4617720"/>
            <a:ext cx="2057400" cy="438912"/>
          </a:xfrm>
          <a:prstGeom prst="roundRect">
            <a:avLst>
              <a:gd name="adj" fmla="val 25000"/>
            </a:avLst>
          </a:prstGeom>
          <a:solidFill>
            <a:srgbClr val="C5F07B"/>
          </a:solidFill>
          <a:ln w="12700">
            <a:solidFill>
              <a:srgbClr val="C5F07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62686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spc="10" kern="0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ДАВАЙТЕ ОБСУДИМ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713232" y="53218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8585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AI-ассистент для поиска музыки, фильмов и сериалов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333488" y="1234440"/>
            <a:ext cx="3639312" cy="3639312"/>
          </a:xfrm>
          <a:prstGeom prst="ellipse">
            <a:avLst/>
          </a:prstGeom>
          <a:solidFill>
            <a:srgbClr val="5D52D9">
              <a:alpha val="28000"/>
            </a:srgbClr>
          </a:solidFill>
          <a:ln w="13970">
            <a:solidFill>
              <a:srgbClr val="867CFF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99832" y="1719072"/>
            <a:ext cx="2697480" cy="2697480"/>
          </a:xfrm>
          <a:prstGeom prst="ellipse">
            <a:avLst/>
          </a:prstGeom>
          <a:solidFill>
            <a:srgbClr val="5E79F7">
              <a:alpha val="24000"/>
            </a:srgbClr>
          </a:solidFill>
          <a:ln w="10160">
            <a:solidFill>
              <a:srgbClr val="8FB5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9328" y="2258568"/>
            <a:ext cx="1600200" cy="1600200"/>
          </a:xfrm>
          <a:prstGeom prst="ellipse">
            <a:avLst/>
          </a:prstGeom>
          <a:solidFill>
            <a:srgbClr val="22222D"/>
          </a:solidFill>
          <a:ln w="13970">
            <a:solidFill>
              <a:srgbClr val="5A58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2642616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3100" dirty="0"/>
          </a:p>
        </p:txBody>
      </p:sp>
      <p:sp>
        <p:nvSpPr>
          <p:cNvPr id="20" name="Shape 18"/>
          <p:cNvSpPr/>
          <p:nvPr/>
        </p:nvSpPr>
        <p:spPr>
          <a:xfrm>
            <a:off x="6995160" y="1856232"/>
            <a:ext cx="2167128" cy="566928"/>
          </a:xfrm>
          <a:prstGeom prst="roundRect">
            <a:avLst>
              <a:gd name="adj" fmla="val 19355"/>
            </a:avLst>
          </a:prstGeom>
          <a:solidFill>
            <a:srgbClr val="C5F07B"/>
          </a:solidFill>
          <a:ln w="12700">
            <a:solidFill>
              <a:srgbClr val="C5F07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199339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МУЗЫКА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9153144" y="3547872"/>
            <a:ext cx="2194560" cy="566928"/>
          </a:xfrm>
          <a:prstGeom prst="roundRect">
            <a:avLst>
              <a:gd name="adj" fmla="val 19355"/>
            </a:avLst>
          </a:prstGeom>
          <a:solidFill>
            <a:srgbClr val="867CFF"/>
          </a:solidFill>
          <a:ln w="12700">
            <a:solidFill>
              <a:srgbClr val="867C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304" y="36850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5F4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ФИЛЬМЫ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8001000" y="4443984"/>
            <a:ext cx="2167128" cy="566928"/>
          </a:xfrm>
          <a:prstGeom prst="roundRect">
            <a:avLst>
              <a:gd name="adj" fmla="val 19355"/>
            </a:avLst>
          </a:prstGeom>
          <a:solidFill>
            <a:srgbClr val="8FB5FF"/>
          </a:solidFill>
          <a:ln w="12700">
            <a:solidFill>
              <a:srgbClr val="8FB5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47304" y="458114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0C0C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СЕРИАЛЫ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10515600" y="1591056"/>
            <a:ext cx="128016" cy="128016"/>
          </a:xfrm>
          <a:prstGeom prst="ellipse">
            <a:avLst/>
          </a:prstGeom>
          <a:solidFill>
            <a:srgbClr val="C5F07B"/>
          </a:solidFill>
          <a:ln w="12700">
            <a:solidFill>
              <a:srgbClr val="C5F07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31152" y="3995928"/>
            <a:ext cx="91440" cy="91440"/>
          </a:xfrm>
          <a:prstGeom prst="ellipse">
            <a:avLst/>
          </a:prstGeom>
          <a:solidFill>
            <a:srgbClr val="FFA5D5"/>
          </a:solidFill>
          <a:ln w="12700">
            <a:solidFill>
              <a:srgbClr val="FFA5D5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Команда «Дающие»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AI-ассистент — поиск музыки и кино</dc:title>
  <dc:subject>Редизайн презентации AI-ассистента для поиска музыки, фильмов и сериалов</dc:subject>
  <dc:creator>OpenAI</dc:creator>
  <cp:lastModifiedBy>OpenAI</cp:lastModifiedBy>
  <cp:revision>1</cp:revision>
  <dcterms:created xsi:type="dcterms:W3CDTF">2026-10-18T15:14:11Z</dcterms:created>
  <dcterms:modified xsi:type="dcterms:W3CDTF">2026-10-18T15:14:11Z</dcterms:modified>
</cp:coreProperties>
</file>